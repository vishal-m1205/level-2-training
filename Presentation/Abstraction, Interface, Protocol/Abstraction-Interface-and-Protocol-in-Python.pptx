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Libre Baskerville"/>
      <p:regular r:id="rId201314"/>
    </p:embeddedFont>
    <p:embeddedFont>
      <p:font typeface="Libre Baskerville Bold"/>
      <p:regular r:id="rId201315"/>
    </p:embeddedFont>
    <p:embeddedFont>
      <p:font typeface="Open Sans Bold"/>
      <p:regular r:id="rId201316"/>
    </p:embeddedFont>
    <p:embeddedFont>
      <p:font typeface="Open Sans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2144316"/>
            <a:ext cx="2175714" cy="287139"/>
          </a:xfrm>
          <a:prstGeom prst="roundRect">
            <a:avLst>
              <a:gd name="adj" fmla="val 7899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2200970"/>
            <a:ext cx="255849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DESIGN PATTERNS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25070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Abstraction, Interface &amp; Protocol in Python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81177"/>
            <a:ext cx="10868745" cy="1332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 ABC, Protocol, Duck Typing &amp; Static Type Checking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beginner-friendly guide to writing structured, flexible, and maintainable Python code.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[Your Name]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7745"/>
            <a:ext cx="698483" cy="161429"/>
          </a:xfrm>
          <a:prstGeom prst="roundRect">
            <a:avLst>
              <a:gd name="adj" fmla="val 7904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5172" y="559594"/>
            <a:ext cx="1180674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13085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Are We Trying to Solve?</a:t>
            </a:r>
            <a:endParaRPr lang="en-US" sz="2050" dirty="0"/>
          </a:p>
        </p:txBody>
      </p:sp>
      <p:sp>
        <p:nvSpPr>
          <p:cNvPr id="5" name="Text 3"/>
          <p:cNvSpPr/>
          <p:nvPr/>
        </p:nvSpPr>
        <p:spPr>
          <a:xfrm>
            <a:off x="820915" y="1202234"/>
            <a:ext cx="11318889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"How can we design Python code where different classes follow the same expected behavior?"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61475" y="1134963"/>
            <a:ext cx="12700" cy="267494"/>
          </a:xfrm>
          <a:prstGeom prst="roundRect">
            <a:avLst>
              <a:gd name="adj" fmla="val 49999"/>
            </a:avLst>
          </a:prstGeom>
          <a:solidFill>
            <a:srgbClr val="403CCF"/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1469727"/>
            <a:ext cx="10868745" cy="1403648"/>
          </a:xfrm>
          <a:prstGeom prst="roundRect">
            <a:avLst>
              <a:gd name="adj" fmla="val 1136"/>
            </a:avLst>
          </a:prstGeom>
          <a:solidFill>
            <a:srgbClr val="EEEDF2"/>
          </a:solidFill>
          <a:ln/>
        </p:spPr>
      </p:sp>
      <p:sp>
        <p:nvSpPr>
          <p:cNvPr id="8" name="Text 6"/>
          <p:cNvSpPr/>
          <p:nvPr/>
        </p:nvSpPr>
        <p:spPr>
          <a:xfrm>
            <a:off x="788968" y="1575991"/>
            <a:ext cx="10613759" cy="1191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UPI: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print("Paid using UPI")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Card: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print("Paid using Card")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61475" y="2940645"/>
            <a:ext cx="11478330" cy="132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Both classes provide 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pay()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but how do we formally describe and enforce this relationship? Python offers several approaches:</a:t>
            </a:r>
            <a:endParaRPr lang="en-US" sz="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140869"/>
            <a:ext cx="531601" cy="63787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52804" y="3247132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Abstraction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3778746"/>
            <a:ext cx="531601" cy="6378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52804" y="3885009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Interface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4416623"/>
            <a:ext cx="531601" cy="63787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52804" y="4522887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ABC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5054501"/>
            <a:ext cx="531601" cy="63787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52804" y="5160764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Protocol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692378"/>
            <a:ext cx="531601" cy="63787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52804" y="5798641"/>
            <a:ext cx="1027741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Duck Typing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4335"/>
            <a:ext cx="103224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610989"/>
            <a:ext cx="14150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 1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707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61257"/>
            <a:ext cx="5203794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Abstraction means hiding unnecessary implementation details and exposing only the essential functionality.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Consider an ATM: you choose Withdraw, Deposit, or Check Balance — but you don't need to know how the bank server processes the transaction.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158456"/>
            <a:ext cx="5203794" cy="1039416"/>
          </a:xfrm>
          <a:prstGeom prst="roundRect">
            <a:avLst>
              <a:gd name="adj" fmla="val 2728"/>
            </a:avLst>
          </a:prstGeom>
          <a:solidFill>
            <a:srgbClr val="D7D6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4451548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4375745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Key idea: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user knows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operation is available, not </a:t>
            </a:r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 is implemented.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61475" y="5410498"/>
            <a:ext cx="5203794" cy="680442"/>
          </a:xfrm>
          <a:prstGeom prst="roundRect">
            <a:avLst>
              <a:gd name="adj" fmla="val 4167"/>
            </a:avLst>
          </a:prstGeom>
          <a:solidFill>
            <a:srgbClr val="EEEDF2"/>
          </a:solidFill>
          <a:ln/>
        </p:spPr>
      </p:sp>
      <p:sp>
        <p:nvSpPr>
          <p:cNvPr id="10" name="Text 7"/>
          <p:cNvSpPr/>
          <p:nvPr/>
        </p:nvSpPr>
        <p:spPr>
          <a:xfrm>
            <a:off x="888283" y="5599509"/>
            <a:ext cx="535976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payment.pay(500)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2776" y="2003822"/>
            <a:ext cx="2507394" cy="18203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48780" y="2218234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you see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6648780" y="2702520"/>
            <a:ext cx="197698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Withdraw · Deposit · Check Balance</a:t>
            </a:r>
            <a:endParaRPr lang="en-US" sz="14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29176" y="2003822"/>
            <a:ext cx="2507394" cy="18203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45180" y="2218234"/>
            <a:ext cx="197698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What's hidden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9345180" y="2702520"/>
            <a:ext cx="197698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Server logic, encryption, database queries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7907"/>
            <a:ext cx="2027187" cy="282674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3093" y="613668"/>
            <a:ext cx="2413535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 1 — IN PYTHON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13805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Abstraction Using ABC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1769963"/>
            <a:ext cx="114783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Python's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module lets you define abstract base classes that enforce a contract on subclasses.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271216"/>
            <a:ext cx="10868745" cy="2158008"/>
          </a:xfrm>
          <a:prstGeom prst="roundRect">
            <a:avLst>
              <a:gd name="adj" fmla="val 1293"/>
            </a:avLst>
          </a:prstGeom>
          <a:solidFill>
            <a:srgbClr val="EEEDF2"/>
          </a:solidFill>
          <a:ln/>
        </p:spPr>
      </p:sp>
      <p:sp>
        <p:nvSpPr>
          <p:cNvPr id="7" name="Text 5"/>
          <p:cNvSpPr/>
          <p:nvPr/>
        </p:nvSpPr>
        <p:spPr>
          <a:xfrm>
            <a:off x="884711" y="2457252"/>
            <a:ext cx="10422272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abc import ABC, abstractmethod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Payment(ABC):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@abstractmethod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635202"/>
            <a:ext cx="3500747" cy="1664791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847505" y="4821238"/>
            <a:ext cx="312868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ABC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47505" y="5228134"/>
            <a:ext cx="312868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Creates an abstract base class that cannot be instantiated directly.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45375" y="4635202"/>
            <a:ext cx="3500846" cy="1664791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4531405" y="4821238"/>
            <a:ext cx="3128785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@abstractmethod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31405" y="5228134"/>
            <a:ext cx="312878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Defines a method that every subclass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must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29374" y="4635202"/>
            <a:ext cx="3500747" cy="1664791"/>
          </a:xfrm>
          <a:prstGeom prst="roundRect">
            <a:avLst>
              <a:gd name="adj" fmla="val 1676"/>
            </a:avLst>
          </a:prstGeom>
          <a:solidFill>
            <a:srgbClr val="EA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8215405" y="4821238"/>
            <a:ext cx="3128686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15405" y="5228134"/>
            <a:ext cx="3128686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Defines the required behavior; implementation is left to subclasses.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48180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14446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ABC IN ACTION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ABC Example: Same Contract, Different Implementations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61475" y="2931220"/>
            <a:ext cx="5319083" cy="1247378"/>
          </a:xfrm>
          <a:prstGeom prst="roundRect">
            <a:avLst>
              <a:gd name="adj" fmla="val 1136"/>
            </a:avLst>
          </a:prstGeom>
          <a:solidFill>
            <a:srgbClr val="EEEDF2"/>
          </a:solidFill>
          <a:ln/>
        </p:spPr>
      </p:sp>
      <p:sp>
        <p:nvSpPr>
          <p:cNvPr id="6" name="Text 4"/>
          <p:cNvSpPr/>
          <p:nvPr/>
        </p:nvSpPr>
        <p:spPr>
          <a:xfrm>
            <a:off x="774879" y="3025676"/>
            <a:ext cx="509227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UPI(Payment):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print(f"Paid ₹{amount} via UPI")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Card(Payment):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pay(self, amount):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print(f"Paid ₹{amount} via Card")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661475" y="4231680"/>
            <a:ext cx="5319083" cy="358973"/>
          </a:xfrm>
          <a:prstGeom prst="roundRect">
            <a:avLst>
              <a:gd name="adj" fmla="val 3949"/>
            </a:avLst>
          </a:prstGeom>
          <a:solidFill>
            <a:srgbClr val="FCF2B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929" y="4308773"/>
            <a:ext cx="118067" cy="94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8450" y="4297759"/>
            <a:ext cx="491765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Payment()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cannot be instantiated while its abstract method remains unimplemented — Python enforces the contract.</a:t>
            </a:r>
            <a:endParaRPr lang="en-US" sz="7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515825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012105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 2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an Interface?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interface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contract that defines </a:t>
            </a:r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operations a class should provide — not how they are performed.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67817"/>
            <a:ext cx="5319083" cy="5319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487" y="3459758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does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not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have a dedicated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keyword like Java or C#. Instead, Python models interface-like contracts using: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6217487" y="3729037"/>
            <a:ext cx="5319083" cy="24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Abstract Base Classes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enforce implementation at runtime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Protocols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define structural compatibility (covered next)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6217487" y="4025404"/>
            <a:ext cx="5319083" cy="358973"/>
          </a:xfrm>
          <a:prstGeom prst="roundRect">
            <a:avLst>
              <a:gd name="adj" fmla="val 3949"/>
            </a:avLst>
          </a:prstGeom>
          <a:solidFill>
            <a:srgbClr val="D7D6F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4102497"/>
            <a:ext cx="118067" cy="94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24462" y="4091484"/>
            <a:ext cx="491765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Interface asks: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"What should this object provide?"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Implementation answers: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"How does this object perform it?"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6873"/>
            <a:ext cx="1016570" cy="282674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3093" y="592634"/>
            <a:ext cx="1402918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 3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89277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Is a Protocol?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661475" y="1748929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Protocol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defines an expected structure for an object — without requiring inheritance. It's Python's way of supporting </a:t>
            </a:r>
            <a:pPr algn="l" indent="0" marL="0">
              <a:lnSpc>
                <a:spcPct val="132000"/>
              </a:lnSpc>
              <a:buNone/>
            </a:pPr>
            <a:r>
              <a:rPr lang="en-US" sz="14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structural subtyping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545457"/>
            <a:ext cx="10868745" cy="1860352"/>
          </a:xfrm>
          <a:prstGeom prst="roundRect">
            <a:avLst>
              <a:gd name="adj" fmla="val 1500"/>
            </a:avLst>
          </a:prstGeom>
          <a:solidFill>
            <a:srgbClr val="EEEDF2"/>
          </a:solidFill>
          <a:ln/>
        </p:spPr>
      </p:sp>
      <p:sp>
        <p:nvSpPr>
          <p:cNvPr id="7" name="Text 5"/>
          <p:cNvSpPr/>
          <p:nvPr/>
        </p:nvSpPr>
        <p:spPr>
          <a:xfrm>
            <a:off x="884711" y="2731492"/>
            <a:ext cx="10422272" cy="1488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Protocol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Storage(Protocol):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save(self, filename: str) -&gt; None: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14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611787"/>
            <a:ext cx="5342796" cy="170924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4502" y="4823222"/>
            <a:ext cx="4818339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What 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says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74502" y="5230118"/>
            <a:ext cx="481833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"Any object that wants to behave like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must provide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save()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the expected signature."</a:t>
            </a:r>
            <a:endParaRPr lang="en-US" sz="14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7424" y="4611787"/>
            <a:ext cx="5342796" cy="170924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00451" y="4823222"/>
            <a:ext cx="481833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 inheritance required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00451" y="5223768"/>
            <a:ext cx="4818339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class satisfies the Protocol simply by having the right methods — it never needs to explicitly inherit from 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pPr algn="l" indent="0" marL="0">
              <a:lnSpc>
                <a:spcPct val="132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900784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39706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PROTOCOL IN ACTION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Protocol Example: Structural Compatibility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61475" y="2683570"/>
            <a:ext cx="5319083" cy="2154634"/>
          </a:xfrm>
          <a:prstGeom prst="roundRect">
            <a:avLst>
              <a:gd name="adj" fmla="val 658"/>
            </a:avLst>
          </a:prstGeom>
          <a:solidFill>
            <a:srgbClr val="EEEDF2"/>
          </a:solidFill>
          <a:ln/>
        </p:spPr>
      </p:sp>
      <p:sp>
        <p:nvSpPr>
          <p:cNvPr id="6" name="Text 4"/>
          <p:cNvSpPr/>
          <p:nvPr/>
        </p:nvSpPr>
        <p:spPr>
          <a:xfrm>
            <a:off x="774879" y="2778026"/>
            <a:ext cx="5092275" cy="1965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LocalStorage: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save(self, filename: str) -&gt; None: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print(f"Saving {filename}")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CloudStorage: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save(self, filename: str) -&gt; None: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print(f"Uploading {filename}")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upload_file(storage: Storage):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storage.save("report.pdf")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upload_file(LocalStorage())</a:t>
            </a:r>
            <a:endParaRPr lang="en-US" sz="7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7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upload_file(CloudStorage())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1475" y="6526709"/>
            <a:ext cx="10868745" cy="250329"/>
          </a:xfrm>
          <a:prstGeom prst="roundRect">
            <a:avLst>
              <a:gd name="adj" fmla="val 5663"/>
            </a:avLst>
          </a:prstGeom>
          <a:solidFill>
            <a:srgbClr val="D7D6F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929" y="6597551"/>
            <a:ext cx="118067" cy="94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8450" y="6597551"/>
            <a:ext cx="11076901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Neither class inherits from 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highlight>
                  <a:srgbClr val="EEED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Storage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They satisfy the Protocol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structurally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by having the required method signature.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13817"/>
            <a:ext cx="103224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403C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070471"/>
            <a:ext cx="14150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 4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765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Duck Typing &amp; Static Type Checking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43969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🦆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Duck Typing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923977"/>
            <a:ext cx="5203794" cy="10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i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"If it walks like a duck and quacks like a duck, it's a duck."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 checks behavior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runtime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if an object has the required method, it works, regardless of its class hierarchy.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213920"/>
            <a:ext cx="5203794" cy="982861"/>
          </a:xfrm>
          <a:prstGeom prst="roundRect">
            <a:avLst>
              <a:gd name="adj" fmla="val 2885"/>
            </a:avLst>
          </a:prstGeom>
          <a:solidFill>
            <a:srgbClr val="EEEDF2"/>
          </a:solidFill>
          <a:ln/>
        </p:spPr>
      </p:sp>
      <p:sp>
        <p:nvSpPr>
          <p:cNvPr id="8" name="Text 6"/>
          <p:cNvSpPr/>
          <p:nvPr/>
        </p:nvSpPr>
        <p:spPr>
          <a:xfrm>
            <a:off x="888283" y="4402931"/>
            <a:ext cx="47501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obj in [UPI(), Card()]: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obj.pay(100)  # Works!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243969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🔍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Static Type Checking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2923977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like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mypy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analyze code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before runtime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using type hints, catching mismatches early.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32776" y="3741440"/>
            <a:ext cx="5203794" cy="1890117"/>
          </a:xfrm>
          <a:prstGeom prst="roundRect">
            <a:avLst>
              <a:gd name="adj" fmla="val 1500"/>
            </a:avLst>
          </a:prstGeom>
          <a:solidFill>
            <a:srgbClr val="EEEDF2"/>
          </a:solidFill>
          <a:ln/>
        </p:spPr>
      </p:sp>
      <p:sp>
        <p:nvSpPr>
          <p:cNvPr id="12" name="Text 10"/>
          <p:cNvSpPr/>
          <p:nvPr/>
        </p:nvSpPr>
        <p:spPr>
          <a:xfrm>
            <a:off x="6559584" y="3930452"/>
            <a:ext cx="475017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process(p: Payment):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p.pay(500)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process(UPI()) # ✓ mypy OK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process("hello") # ✗ mypy error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0565"/>
            <a:ext cx="919834" cy="273645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769521" y="604540"/>
            <a:ext cx="1313326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92870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Takeaways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61475" y="1713508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EAE8F3"/>
          </a:solidFill>
          <a:ln/>
        </p:spPr>
      </p:sp>
      <p:sp>
        <p:nvSpPr>
          <p:cNvPr id="6" name="Text 4"/>
          <p:cNvSpPr/>
          <p:nvPr/>
        </p:nvSpPr>
        <p:spPr>
          <a:xfrm>
            <a:off x="841552" y="1893590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Abstraction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41552" y="2278063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Hide complexity, expose essentials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81670" y="1713508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EAE8F3"/>
          </a:solidFill>
          <a:ln/>
        </p:spPr>
      </p:sp>
      <p:sp>
        <p:nvSpPr>
          <p:cNvPr id="9" name="Text 7"/>
          <p:cNvSpPr/>
          <p:nvPr/>
        </p:nvSpPr>
        <p:spPr>
          <a:xfrm>
            <a:off x="6361747" y="1893590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ABC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361747" y="2278063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Enforce contracts via inheritance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2911277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EAE8F3"/>
          </a:solidFill>
          <a:ln/>
        </p:spPr>
      </p:sp>
      <p:sp>
        <p:nvSpPr>
          <p:cNvPr id="12" name="Text 10"/>
          <p:cNvSpPr/>
          <p:nvPr/>
        </p:nvSpPr>
        <p:spPr>
          <a:xfrm>
            <a:off x="841552" y="3091359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Interface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41552" y="3475831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what, not how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81670" y="2911277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EAE8F3"/>
          </a:solidFill>
          <a:ln/>
        </p:spPr>
      </p:sp>
      <p:sp>
        <p:nvSpPr>
          <p:cNvPr id="15" name="Text 13"/>
          <p:cNvSpPr/>
          <p:nvPr/>
        </p:nvSpPr>
        <p:spPr>
          <a:xfrm>
            <a:off x="6361747" y="3091359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Protocol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361747" y="3475831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Structural compatibility, no inheritance needed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1475" y="4109045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EAE8F3"/>
          </a:solidFill>
          <a:ln/>
        </p:spPr>
      </p:sp>
      <p:sp>
        <p:nvSpPr>
          <p:cNvPr id="18" name="Text 16"/>
          <p:cNvSpPr/>
          <p:nvPr/>
        </p:nvSpPr>
        <p:spPr>
          <a:xfrm>
            <a:off x="841552" y="4289127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Duck Typing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41552" y="4673600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Runtime behavior over class hierarchy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81670" y="4109045"/>
            <a:ext cx="5348551" cy="1026120"/>
          </a:xfrm>
          <a:prstGeom prst="roundRect">
            <a:avLst>
              <a:gd name="adj" fmla="val 2634"/>
            </a:avLst>
          </a:prstGeom>
          <a:solidFill>
            <a:srgbClr val="EAE8F3"/>
          </a:solidFill>
          <a:ln/>
        </p:spPr>
      </p:sp>
      <p:sp>
        <p:nvSpPr>
          <p:cNvPr id="21" name="Text 19"/>
          <p:cNvSpPr/>
          <p:nvPr/>
        </p:nvSpPr>
        <p:spPr>
          <a:xfrm>
            <a:off x="6361747" y="4289127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Type Checking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6361747" y="4673600"/>
            <a:ext cx="49883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Catch errors before runtime with mypy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61475" y="5328345"/>
            <a:ext cx="10868745" cy="978991"/>
          </a:xfrm>
          <a:prstGeom prst="roundRect">
            <a:avLst>
              <a:gd name="adj" fmla="val 2760"/>
            </a:avLst>
          </a:prstGeom>
          <a:solidFill>
            <a:srgbClr val="D7D6F5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552" y="5571430"/>
            <a:ext cx="225122" cy="18008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246752" y="5544939"/>
            <a:ext cx="10103391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Remember: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Use ABCs when you need enforced contracts, Protocols for flexible structural typing, and Duck Typing for Pythonic simplicity. Combine with static type checking for robust, maintainable code.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2026-09-27T17:15:30Z</dcterms:created>
  <dcterms:modified xsi:type="dcterms:W3CDTF">2026-09-27T17:15:30Z</dcterms:modified>
</cp:coreProperties>
</file>